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55000">
              <a:srgbClr val="083CAB"/>
            </a:gs>
            <a:gs pos="100000">
              <a:srgbClr val="0B5FFF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_ico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566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anken Grotesk"/>
              </a:rPr>
              <a:t>dony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EXPÉDITEURS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56032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Hanken Grotesk"/>
              </a:rPr>
              <a:t>Envoyez un colis en Afrique,
en toute confiance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1FF"/>
                </a:solidFill>
                <a:latin typeface="Plus Jakarta Sans"/>
              </a:rPr>
              <a:t>dony met en relation votre envoi avec des voyageurs vérifiés qui font déjà le trajet — plus rapide et plus abordable qu'un transporteur classique.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A2540"/>
                </a:solidFill>
                <a:latin typeface="Hanken Grotesk"/>
              </a:rPr>
              <a:t>Envoyer un colis en famille ne devrait pas être un parcours du combattant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52958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529584" cy="63500"/>
          </a:xfrm>
          <a:prstGeom prst="rect">
            <a:avLst/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D96A3A"/>
                </a:solidFill>
                <a:latin typeface="Hanken Grotesk"/>
              </a:rPr>
              <a:t>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29809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Les transporteurs classiques facturent au poids, sans négociation possible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03120"/>
            <a:ext cx="352958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3529584" cy="635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5FFF"/>
                </a:solidFill>
                <a:latin typeface="Hanken Grotesk"/>
              </a:rPr>
              <a:t>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29000"/>
            <a:ext cx="29809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Plusieurs semaines de délai, peu de visibilité sur le colis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03120"/>
            <a:ext cx="352958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2103120"/>
            <a:ext cx="3529584" cy="6350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2980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E8A5F"/>
                </a:solidFill>
                <a:latin typeface="Hanken Grotesk"/>
              </a:rPr>
              <a:t>Opaque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29809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4504A"/>
                </a:solidFill>
                <a:latin typeface="Plus Jakarta Sans"/>
              </a:rPr>
              <a:t>Difficile de savoir qui transporte réellement votre envoi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ED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A2540"/>
                </a:solidFill>
                <a:latin typeface="Hanken Grotesk"/>
              </a:rPr>
              <a:t>Votre colis, porté par un voyageur — pas un entrepôt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5760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Choisissez un voyageur vérifié (KYC) qui fait déjà votre trajet.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Négociez le prix directement ou acceptez un prix ferme.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Payez uniquement quand tout est confirmé — fonds sécurisés.</a:t>
            </a:r>
          </a:p>
        </p:txBody>
      </p:sp>
      <p:pic>
        <p:nvPicPr>
          <p:cNvPr id="6" name="Picture 5" descr="app_ico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743200"/>
            <a:ext cx="146304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LE PARCOURS EXPÉDITEUR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Comment ça marche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Publiez votre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514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Corridor, poids, date souhaitée, type de contenu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Choisissez un voyageur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57600"/>
            <a:ext cx="2514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Trajet déjà planifié ou négociation du prix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Payez en 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2514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Carte ou espèces — fonds séquestrés jusqu'à livraison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2248" y="2395728"/>
            <a:ext cx="146304" cy="2540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anken Grotes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9260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0A2540"/>
                </a:solidFill>
                <a:latin typeface="Hanken Grotesk"/>
              </a:rPr>
              <a:t>Suivez et confirmez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657600"/>
            <a:ext cx="2514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QR + photo à la remise, suivi en temps réel, confirmation à réception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100000">
              <a:srgbClr val="083CAB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OÙ ENVOYER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Hanken Grotesk"/>
              </a:rPr>
              <a:t>Les corridors dony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EA9468"/>
                </a:solidFill>
                <a:latin typeface="Plus Jakarta Sans"/>
              </a:rPr>
              <a:t>DÉPARTS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083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Paris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083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Lyon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083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Marseille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13716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EA9468"/>
                </a:solidFill>
                <a:latin typeface="Hanken Grotesk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EA9468"/>
                </a:solidFill>
                <a:latin typeface="Plus Jakarta Sans"/>
              </a:rPr>
              <a:t>DESTINATIONS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6888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Dakar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46888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46888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Abidjan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Bamako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291840"/>
            <a:ext cx="2468880" cy="640080"/>
          </a:xfrm>
          <a:prstGeom prst="roundRect">
            <a:avLst>
              <a:gd name="adj" fmla="val 20000"/>
            </a:avLst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3291840"/>
            <a:ext cx="2468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Douala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TARIFICATION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Un prix clair, fixé avant l'envoi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D96A3A"/>
                </a:solidFill>
                <a:latin typeface="Plus Jakarta Sans"/>
              </a:rPr>
              <a:t>EXEMPLE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Colis de 5 kg, Paris → Dakar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Prix négocié avec le voyageur : 40 €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50" b="0">
                <a:solidFill>
                  <a:srgbClr val="54504A"/>
                </a:solidFill>
                <a:latin typeface="Plus Jakarta Sans"/>
              </a:rPr>
              <a:t>Ou prix ferme affiché sur un trajet publié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09160"/>
            <a:ext cx="4480560" cy="19050"/>
          </a:xfrm>
          <a:prstGeom prst="rect">
            <a:avLst/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0B5FFF"/>
                </a:solidFill>
                <a:latin typeface="Plus Jakarta Sans"/>
              </a:rPr>
              <a:t>VOUS PAYEZ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5FFF"/>
                </a:solidFill>
                <a:latin typeface="Hanken Grotesk"/>
              </a:rPr>
              <a:t>40 € tout compris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65960"/>
            <a:ext cx="5486400" cy="3749039"/>
          </a:xfrm>
          <a:prstGeom prst="roundRect">
            <a:avLst>
              <a:gd name="adj" fmla="val 5000"/>
            </a:avLst>
          </a:prstGeom>
          <a:solidFill>
            <a:srgbClr val="F7F3ED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D96A3A"/>
                </a:solidFill>
                <a:latin typeface="Plus Jakarta Sans"/>
              </a:rPr>
              <a:t>CE QUI EST INCLUS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00" b="0">
                <a:solidFill>
                  <a:srgbClr val="0A2540"/>
                </a:solidFill>
                <a:latin typeface="Plus Jakarta Sans"/>
              </a:rPr>
              <a:t>Négociation directe avec le voyageur — jamais de prix imposé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00" b="0">
                <a:solidFill>
                  <a:srgbClr val="0A2540"/>
                </a:solidFill>
                <a:latin typeface="Plus Jakarta Sans"/>
              </a:rPr>
              <a:t>Paiement carte ou espèces selon ce que le voyageur accepte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00" b="0">
                <a:solidFill>
                  <a:srgbClr val="0A2540"/>
                </a:solidFill>
                <a:latin typeface="Plus Jakarta Sans"/>
              </a:rPr>
              <a:t>Valeur déclarée plafonnée à 500 € par envoi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D96A3A"/>
              </a:buClr>
              <a:buFont typeface="Plus Jakarta Sans"/>
              <a:buChar char="—"/>
            </a:pPr>
            <a:r>
              <a:rPr sz="1400" b="0">
                <a:solidFill>
                  <a:srgbClr val="0A2540"/>
                </a:solidFill>
                <a:latin typeface="Plus Jakarta Sans"/>
              </a:rPr>
              <a:t>Aucun frais caché après validation du prix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CONFIANCE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Votre colis, entre de bonnes 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06040" cy="63500"/>
          </a:xfrm>
          <a:prstGeom prst="rect">
            <a:avLst/>
          </a:prstGeom>
          <a:solidFill>
            <a:srgbClr val="1B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1B7BC2"/>
                </a:solidFill>
                <a:latin typeface="Hanken Grotesk"/>
              </a:rPr>
              <a:t>Voyageur vérifié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Identité contrôlée via Stripe Identity avant tout envoi accepté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2103120"/>
            <a:ext cx="2606040" cy="63500"/>
          </a:xfrm>
          <a:prstGeom prst="rect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E8A5F"/>
                </a:solidFill>
                <a:latin typeface="Hanken Grotesk"/>
              </a:rPr>
              <a:t>Paiement séquestré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Vos fonds ne sont débités du voyageur qu'après votre confirmation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2606040" cy="635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5FFF"/>
                </a:solidFill>
                <a:latin typeface="Hanken Grotesk"/>
              </a:rPr>
              <a:t>Preuve à la remise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QR code + photo horodatée au moment où vous remettez le colis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10312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2103120"/>
            <a:ext cx="2606040" cy="63500"/>
          </a:xfrm>
          <a:prstGeom prst="rect">
            <a:avLst/>
          </a:prstGeom>
          <a:solidFill>
            <a:srgbClr val="D9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23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D96A3A"/>
                </a:solidFill>
                <a:latin typeface="Hanken Grotesk"/>
              </a:rPr>
              <a:t>Signalement &amp; litige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5468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Une équipe support traite tout problème avec les preuves à l'appui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APRÈS L'ENVOI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Suivez votre colis de bout en bout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3774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A2540"/>
                </a:solidFill>
                <a:latin typeface="Hanken Grotesk"/>
              </a:rPr>
              <a:t>Lien de suivi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Partageable avec le destinataire, sans compte requis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031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23774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9718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A2540"/>
                </a:solidFill>
                <a:latin typeface="Hanken Grotesk"/>
              </a:rPr>
              <a:t>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56616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À chaque étape clé : remise, en transit, livraison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3774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A2540"/>
                </a:solidFill>
                <a:latin typeface="Hanken Grotesk"/>
              </a:rPr>
              <a:t>Code de retrait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Le destinataire confirme la réception avec un code dédié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10312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3774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9718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A2540"/>
                </a:solidFill>
                <a:latin typeface="Hanken Grotesk"/>
              </a:rPr>
              <a:t>Avis &amp; notation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566160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>
                <a:solidFill>
                  <a:srgbClr val="54504A"/>
                </a:solidFill>
                <a:latin typeface="Plus Jakarta Sans"/>
              </a:rPr>
              <a:t>Notez le voyageur après chaque envoi réussi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96A3A"/>
            </a:gs>
            <a:gs pos="100000">
              <a:srgbClr val="B95524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Hanken Grotesk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56032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Hanken Grotesk"/>
              </a:rPr>
              <a:t>J'ai pu envoyer des médicaments à ma mère à Dakar en 3 jours, moins cher qu'un transporteur classique et avec un suivi rassurant.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617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CF0E9"/>
                </a:solidFill>
                <a:latin typeface="Plus Jakarta Sans"/>
              </a:rPr>
              <a:t>— Expéditrice, corridor Paris ↔ Dakar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0B5FFF"/>
                </a:solidFill>
                <a:latin typeface="Plus Jakarta Sans"/>
              </a:rPr>
              <a:t>QUESTIONS FRÉQUENTES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A2540"/>
                </a:solidFill>
                <a:latin typeface="Hanken Grotesk"/>
              </a:rPr>
              <a:t>Ce que les expéditeurs demandent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02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Quand suis-je débité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Uniquement après validation finale de l'envoi — jamais avant l'accord sur le prix.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45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Quelle est la valeur maximale déclarable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500 € par colis — au-delà, l'envoi n'est pas accepté sur la plateforme.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88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Puis-je payer en espèces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Oui, si le voyageur l'accepte pour cette demande précise.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19"/>
            <a:ext cx="10881360" cy="1005840"/>
          </a:xfrm>
          <a:prstGeom prst="roundRect">
            <a:avLst>
              <a:gd name="adj" fmla="val 12000"/>
            </a:avLst>
          </a:prstGeom>
          <a:solidFill>
            <a:srgbClr val="FAFAF8"/>
          </a:solidFill>
          <a:ln w="12700">
            <a:solidFill>
              <a:srgbClr val="E8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31535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A2540"/>
                </a:solidFill>
                <a:latin typeface="Plus Jakarta Sans"/>
              </a:rPr>
              <a:t>Que se passe-t-il si le colis n'arrive pas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3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4504A"/>
                </a:solidFill>
                <a:latin typeface="Plus Jakarta Sans"/>
              </a:rPr>
              <a:t>Vous ouvrez un signalement — l'équipe support instruit le litige avec les preuves de suivi.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8A294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8A294"/>
                </a:solidFill>
                <a:latin typeface="Plus Jakart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41D54"/>
            </a:gs>
            <a:gs pos="100000">
              <a:srgbClr val="0B5FFF"/>
            </a:gs>
          </a:gsLst>
          <a:lin scaled="0" ang="14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180">
                <a:solidFill>
                  <a:srgbClr val="EA9468"/>
                </a:solidFill>
                <a:latin typeface="Plus Jakarta Sans"/>
              </a:rPr>
              <a:t>2 MINUTES SUFFISENT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2860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anken Grotesk"/>
              </a:rPr>
              <a:t>Publiez votre première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EA9468"/>
              </a:buClr>
              <a:buFont typeface="Plus Jakarta Sans"/>
              <a:buChar char="—"/>
            </a:pPr>
            <a:r>
              <a:rPr sz="1500" b="0">
                <a:solidFill>
                  <a:srgbClr val="FFFFFF"/>
                </a:solidFill>
                <a:latin typeface="Plus Jakarta Sans"/>
              </a:rPr>
              <a:t>Décrivez votre colis — poids, contenu, corridor souhaité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EA9468"/>
              </a:buClr>
              <a:buFont typeface="Plus Jakarta Sans"/>
              <a:buChar char="—"/>
            </a:pPr>
            <a:r>
              <a:rPr sz="1500" b="0">
                <a:solidFill>
                  <a:srgbClr val="FFFFFF"/>
                </a:solidFill>
                <a:latin typeface="Plus Jakarta Sans"/>
              </a:rPr>
              <a:t>Comparez les trajets disponibles ou lancez une négociation</a:t>
            </a:r>
          </a:p>
          <a:p>
            <a:pPr algn="l" indent="-182880" marL="182880">
              <a:lnSpc>
                <a:spcPct val="140000"/>
              </a:lnSpc>
              <a:spcAft>
                <a:spcPts val="1000"/>
              </a:spcAft>
              <a:buClr>
                <a:srgbClr val="EA9468"/>
              </a:buClr>
              <a:buFont typeface="Plus Jakarta Sans"/>
              <a:buChar char="—"/>
            </a:pPr>
            <a:r>
              <a:rPr sz="1500" b="0">
                <a:solidFill>
                  <a:srgbClr val="FFFFFF"/>
                </a:solidFill>
                <a:latin typeface="Plus Jakarta Sans"/>
              </a:rPr>
              <a:t>Payez en sécurité et suivez l'envoi jusqu'à la livraison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212080"/>
            <a:ext cx="256032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25603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5FFF"/>
                </a:solidFill>
                <a:latin typeface="Plus Jakarta Sans"/>
              </a:rPr>
              <a:t>Envoyer un colis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dony · envoyer un colis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37744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3246120"/>
            <a:ext cx="6702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anken Grotesk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069080"/>
            <a:ext cx="5788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8BEFF"/>
                </a:solidFill>
                <a:latin typeface="Plus Jakarta Sans"/>
              </a:rPr>
              <a:t>contact@dony.app · dony.app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lus Jakarta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