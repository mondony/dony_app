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50000">
              <a:srgbClr val="083CAB"/>
            </a:gs>
            <a:gs pos="100000">
              <a:srgbClr val="0B5FFF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566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anken Grotesk"/>
              </a:rPr>
              <a:t>dony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TITRE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432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Hanken Grotesk"/>
              </a:rPr>
              <a:t>Écrivez votre grand titre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6E1FF"/>
                </a:solidFill>
                <a:latin typeface="Plus Jakarta Sans"/>
              </a:rPr>
              <a:t>Sous-titre ou accroche en une phrase — contexte, date, intervenant.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8BEFF"/>
                </a:solidFill>
                <a:latin typeface="Plus Jakarta Sans"/>
              </a:rPr>
              <a:t>Prénom Nom · Fonction ·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A2540"/>
                </a:solidFill>
                <a:latin typeface="Hanken Grotesk"/>
              </a:rPr>
              <a:t>Ce que nous allons voir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Hanken Grotes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6596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Plus Jakarta Sans"/>
              </a:rPr>
              <a:t>Contexte &amp; objectifs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Hanken Grotes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07208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Plus Jakarta Sans"/>
              </a:rPr>
              <a:t>Le problème à résoudre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484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Hanken Grotesk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48456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Plus Jakarta Sans"/>
              </a:rPr>
              <a:t>Notre approche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970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97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Hanken Grotes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8970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Plus Jakarta Sans"/>
              </a:rPr>
              <a:t>Résultats &amp; chiffres clés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3095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309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Hanken Grotesk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30952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Plus Jakarta Sans"/>
              </a:rPr>
              <a:t>Prochaines étapes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1F3454"/>
                </a:solidFill>
                <a:latin typeface="Hanken Grotes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661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Hanken Grotesk"/>
              </a:rPr>
              <a:t>Titre de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709160"/>
            <a:ext cx="1097280" cy="508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Hanken Grotesk"/>
              </a:rPr>
              <a:t>Titre du slide de contenu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30000"/>
              </a:lnSpc>
              <a:spcAft>
                <a:spcPts val="1000"/>
              </a:spcAft>
              <a:buFont typeface="Plus Jakarta Sans"/>
              <a:buChar char="—"/>
            </a:pPr>
            <a:r>
              <a:rPr sz="1600" b="0">
                <a:solidFill>
                  <a:srgbClr val="0A2540"/>
                </a:solidFill>
                <a:latin typeface="Plus Jakarta Sans"/>
              </a:rPr>
              <a:t>Premier point clé — une idée par ligne, phrases courtes.</a:t>
            </a:r>
          </a:p>
          <a:p>
            <a:pPr algn="l" indent="-182880" marL="182880">
              <a:lnSpc>
                <a:spcPct val="130000"/>
              </a:lnSpc>
              <a:spcAft>
                <a:spcPts val="1000"/>
              </a:spcAft>
              <a:buFont typeface="Plus Jakarta Sans"/>
              <a:buChar char="—"/>
            </a:pPr>
            <a:r>
              <a:rPr sz="1600" b="0">
                <a:solidFill>
                  <a:srgbClr val="0A2540"/>
                </a:solidFill>
                <a:latin typeface="Plus Jakarta Sans"/>
              </a:rPr>
              <a:t>Deuxième point — évitez les paragraphes denses en diapo.</a:t>
            </a:r>
          </a:p>
          <a:p>
            <a:pPr algn="l" indent="-182880" marL="182880">
              <a:lnSpc>
                <a:spcPct val="130000"/>
              </a:lnSpc>
              <a:spcAft>
                <a:spcPts val="1000"/>
              </a:spcAft>
              <a:buFont typeface="Plus Jakarta Sans"/>
              <a:buChar char="—"/>
            </a:pPr>
            <a:r>
              <a:rPr sz="1600" b="0">
                <a:solidFill>
                  <a:srgbClr val="0A2540"/>
                </a:solidFill>
                <a:latin typeface="Plus Jakarta Sans"/>
              </a:rPr>
              <a:t>Troisième point — appuyez sur les mots-clés en gras si besoin.</a:t>
            </a:r>
          </a:p>
          <a:p>
            <a:pPr algn="l" indent="-182880" marL="182880">
              <a:lnSpc>
                <a:spcPct val="130000"/>
              </a:lnSpc>
              <a:spcAft>
                <a:spcPts val="1000"/>
              </a:spcAft>
              <a:buFont typeface="Plus Jakarta Sans"/>
              <a:buChar char="—"/>
            </a:pPr>
            <a:r>
              <a:rPr sz="1600" b="0">
                <a:solidFill>
                  <a:srgbClr val="0A2540"/>
                </a:solidFill>
                <a:latin typeface="Plus Jakarta Sans"/>
              </a:rPr>
              <a:t>Quatrième point — gardez 4 à 6 lignes maximum par diapo.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D96A3A"/>
                </a:solidFill>
                <a:latin typeface="Plus Jakarta Sans"/>
              </a:rPr>
              <a:t>À RETENIR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514600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0A2540"/>
                </a:solidFill>
                <a:latin typeface="Plus Jakarta Sans"/>
              </a:rPr>
              <a:t>Encadré latéral pour un chiffre clé, une citation courte ou un rappel important.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COMPARAISON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Hanken Grotesk"/>
              </a:rPr>
              <a:t>Avant / après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54504A"/>
                </a:solidFill>
                <a:latin typeface="Hanken Grotesk"/>
              </a:rP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54504A"/>
                </a:solidFill>
                <a:latin typeface="Plus Jakarta Sans"/>
              </a:rPr>
              <a:t>Situation ou méthode actuelle</a:t>
            </a:r>
          </a:p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54504A"/>
                </a:solidFill>
                <a:latin typeface="Plus Jakarta Sans"/>
              </a:rPr>
              <a:t>Limite ou point de friction n°1</a:t>
            </a:r>
          </a:p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54504A"/>
                </a:solidFill>
                <a:latin typeface="Plus Jakarta Sans"/>
              </a:rPr>
              <a:t>Limite ou point de friction n°2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EDF2FF"/>
          </a:solidFill>
          <a:ln w="15875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83CAB"/>
                </a:solidFill>
                <a:latin typeface="Hanken Grotesk"/>
              </a:rPr>
              <a:t>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041D54"/>
                </a:solidFill>
                <a:latin typeface="Plus Jakarta Sans"/>
              </a:rPr>
              <a:t>Nouvelle approche proposée</a:t>
            </a:r>
          </a:p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041D54"/>
                </a:solidFill>
                <a:latin typeface="Plus Jakarta Sans"/>
              </a:rPr>
              <a:t>Bénéfice concret n°1</a:t>
            </a:r>
          </a:p>
          <a:p>
            <a:pPr algn="l" indent="-182880" marL="182880">
              <a:lnSpc>
                <a:spcPct val="125000"/>
              </a:lnSpc>
              <a:spcAft>
                <a:spcPts val="1000"/>
              </a:spcAft>
              <a:buFont typeface="Plus Jakarta Sans"/>
              <a:buChar char="—"/>
            </a:pPr>
            <a:r>
              <a:rPr sz="1500" b="0">
                <a:solidFill>
                  <a:srgbClr val="041D54"/>
                </a:solidFill>
                <a:latin typeface="Plus Jakarta Sans"/>
              </a:rPr>
              <a:t>Bénéfice concret n°2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CAS D'USAGE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A2540"/>
                </a:solidFill>
                <a:latin typeface="Hanken Grotesk"/>
              </a:rPr>
              <a:t>Titre avec visuel d'illustration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669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54504A"/>
                </a:solidFill>
                <a:latin typeface="Plus Jakarta Sans"/>
              </a:rPr>
              <a:t>Décrivez ici le contexte ou le parcours utilisateur illustré à droite.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54504A"/>
                </a:solidFill>
                <a:latin typeface="Plus Jakarta Sans"/>
              </a:rPr>
              <a:t>Une image ou capture d'écran remplace le bloc bleu clair.</a:t>
            </a:r>
          </a:p>
        </p:txBody>
      </p:sp>
      <p:pic>
        <p:nvPicPr>
          <p:cNvPr id="6" name="Picture 5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60604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100000">
              <a:srgbClr val="083CAB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EA9468"/>
                </a:solidFill>
                <a:latin typeface="Hanken Grotesk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65176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Hanken Grotesk"/>
              </a:rPr>
              <a:t>Une citation marquante, un retour client ou une phrase de synthèse vient ici en grand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709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8BEFF"/>
                </a:solidFill>
                <a:latin typeface="Plus Jakarta Sans"/>
              </a:rPr>
              <a:t>— Nom Prénom, Fonction / 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Hanken Grotesk"/>
              </a:rPr>
              <a:t>Chiffres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06040" cy="635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5FFF"/>
                </a:solidFill>
                <a:latin typeface="Hanken Grotesk"/>
              </a:rPr>
              <a:t>+42%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Croissance mensuelle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011680"/>
            <a:ext cx="2606040" cy="635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6A3A"/>
                </a:solidFill>
                <a:latin typeface="Hanken Grotesk"/>
              </a:rPr>
              <a:t>12 500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Utilisateurs actifs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606040" cy="635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E8A5F"/>
                </a:solidFill>
                <a:latin typeface="Hanken Grotesk"/>
              </a:rPr>
              <a:t>4,8/5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Satisfaction moyenne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2011680"/>
            <a:ext cx="2606040" cy="63500"/>
          </a:xfrm>
          <a:prstGeom prst="rect">
            <a:avLst/>
          </a:prstGeom>
          <a:solidFill>
            <a:srgbClr val="1B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7BC2"/>
                </a:solidFill>
                <a:latin typeface="Hanken Grotesk"/>
              </a:rPr>
              <a:t>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6576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Livraisons à temps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Hanken Grotesk"/>
              </a:rPr>
              <a:t>Notre processus en 4 étapes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Hanken Grotesk"/>
              </a:rPr>
              <a:t>Découverte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0">
                <a:solidFill>
                  <a:srgbClr val="54504A"/>
                </a:solidFill>
                <a:latin typeface="Plus Jakarta Sans"/>
              </a:rPr>
              <a:t>Comprendre le besoin et le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Hanken Grotesk"/>
              </a:rPr>
              <a:t>Conception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42900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0">
                <a:solidFill>
                  <a:srgbClr val="54504A"/>
                </a:solidFill>
                <a:latin typeface="Plus Jakarta Sans"/>
              </a:rPr>
              <a:t>Explorer les pistes de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Hanken Grotesk"/>
              </a:rPr>
              <a:t>Réalisation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2900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0">
                <a:solidFill>
                  <a:srgbClr val="54504A"/>
                </a:solidFill>
                <a:latin typeface="Plus Jakarta Sans"/>
              </a:rPr>
              <a:t>Développer et itérer rapidement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224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Hanken Grotesk"/>
              </a:rPr>
              <a:t>Mesure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42900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0">
                <a:solidFill>
                  <a:srgbClr val="54504A"/>
                </a:solidFill>
                <a:latin typeface="Plus Jakarta Sans"/>
              </a:rPr>
              <a:t>Suivre les résultats et ajuster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Hanken Grotesk"/>
              </a:rPr>
              <a:t>Tableau comparatif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680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lus Jakarta Sans"/>
                        </a:rPr>
                        <a:t>Critère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lus Jakarta Sans"/>
                        </a:rPr>
                        <a:t>Option A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lus Jakarta Sans"/>
                        </a:rPr>
                        <a:t>Option B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lus Jakarta Sans"/>
                        </a:rPr>
                        <a:t>Recommandé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Coût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€€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E8A5F"/>
                          </a:solidFill>
                          <a:latin typeface="Plus Jakarta Sans"/>
                        </a:rPr>
                        <a:t>Option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Délai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4 semaines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2 semaines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E8A5F"/>
                          </a:solidFill>
                          <a:latin typeface="Plus Jakarta Sans"/>
                        </a:rPr>
                        <a:t>Option B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Couverture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Complète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Partielle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E8A5F"/>
                          </a:solidFill>
                          <a:latin typeface="Plus Jakarta Sans"/>
                        </a:rPr>
                        <a:t>Option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Risque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Faible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A2540"/>
                          </a:solidFill>
                          <a:latin typeface="Plus Jakarta Sans"/>
                        </a:rPr>
                        <a:t>Moyen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E8A5F"/>
                          </a:solidFill>
                          <a:latin typeface="Plus Jakarta Sans"/>
                        </a:rPr>
                        <a:t>Option A</a:t>
                      </a:r>
                    </a:p>
                  </a:txBody>
                  <a:tcPr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96A3A"/>
            </a:gs>
            <a:gs pos="100000">
              <a:srgbClr val="B95524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FFFFFF"/>
                </a:solidFill>
                <a:latin typeface="Plus Jakarta Sans"/>
              </a:rPr>
              <a:t>PROCHAINE ÉTAPE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46888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anken Grotesk"/>
              </a:rPr>
              <a:t>Passons à l'action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CF0E9"/>
                </a:solidFill>
                <a:latin typeface="Plus Jakarta Sans"/>
              </a:rPr>
              <a:t>Décrivez ici l'action attendue de l'audience : valider, tester, planifier un suivi.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72000"/>
            <a:ext cx="23774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6A3A"/>
                </a:solidFill>
                <a:latin typeface="Plus Jakarta Sans"/>
              </a:rPr>
              <a:t>Appel à l'action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presentation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77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3291840"/>
            <a:ext cx="4873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Hanken Grotesk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8BEFF"/>
                </a:solidFill>
                <a:latin typeface="Plus Jakarta Sans"/>
              </a:rPr>
              <a:t>contact@dony.app · dony.app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