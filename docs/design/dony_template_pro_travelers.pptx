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41D54"/>
            </a:gs>
            <a:gs pos="55000">
              <a:srgbClr val="083CAB"/>
            </a:gs>
            <a:gs pos="100000">
              <a:srgbClr val="0B5FFF"/>
            </a:gs>
          </a:gsLst>
          <a:lin scaled="0" ang="14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_icon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566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anken Grotesk"/>
              </a:rPr>
              <a:t>dony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EA9468"/>
                </a:solidFill>
                <a:latin typeface="Plus Jakarta Sans"/>
              </a:rPr>
              <a:t>VOYAGEURS PROFESSIONNELS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56032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Hanken Grotesk"/>
              </a:rPr>
              <a:t>Monétisez chaque
bagage, chaque trajet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D6E1FF"/>
                </a:solidFill>
                <a:latin typeface="Plus Jakarta Sans"/>
              </a:rPr>
              <a:t>dony connecte vos trajets réguliers à des expéditeurs de la diaspora africaine — un revenu complémentaire, sans détour.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LE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Vous voyagez déjà — votre bagage a de la 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529584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3529584" cy="635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2980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5FFF"/>
                </a:solidFill>
                <a:latin typeface="Hanken Grotesk"/>
              </a:rPr>
              <a:t>23 kg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298094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4504A"/>
                </a:solidFill>
                <a:latin typeface="Plus Jakarta Sans"/>
              </a:rPr>
              <a:t>Franchise bagage souvent sous-utilisée sur vos trajets pro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103120"/>
            <a:ext cx="3529584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2103120"/>
            <a:ext cx="3529584" cy="63500"/>
          </a:xfrm>
          <a:prstGeom prst="rect">
            <a:avLst/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2980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D96A3A"/>
                </a:solidFill>
                <a:latin typeface="Hanken Grotesk"/>
              </a:rPr>
              <a:t>Diaspora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29000"/>
            <a:ext cx="298094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4504A"/>
                </a:solidFill>
                <a:latin typeface="Plus Jakarta Sans"/>
              </a:rPr>
              <a:t>Familles et entreprises cherchent un moyen fiable d'envoyer des colis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103120"/>
            <a:ext cx="3529584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2103120"/>
            <a:ext cx="3529584" cy="6350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2980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E8A5F"/>
                </a:solidFill>
                <a:latin typeface="Hanken Grotesk"/>
              </a:rPr>
              <a:t>0 détour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29000"/>
            <a:ext cx="298094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4504A"/>
                </a:solidFill>
                <a:latin typeface="Plus Jakarta Sans"/>
              </a:rPr>
              <a:t>Vous transportez sur un trajet que vous faites déjà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devenir voyageur professionnel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ED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LA PLATEFORME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A2540"/>
                </a:solidFill>
                <a:latin typeface="Hanken Grotesk"/>
              </a:rPr>
              <a:t>Une marketplace P2P de transport par bagage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5760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Mise en relation directe entre expéditeurs et voyageurs — aucun entrepôt, aucun transit logistique classique.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Paiement sécurisé et KYC vérifié pour chaque partie.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Suivi du colis en temps réel, de la remise à la livraison.</a:t>
            </a:r>
          </a:p>
        </p:txBody>
      </p:sp>
      <p:pic>
        <p:nvPicPr>
          <p:cNvPr id="6" name="Picture 5" descr="app_icon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743200"/>
            <a:ext cx="1463040" cy="1463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devenir voyageur professionnel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LE PARCOURS VOYAGEUR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Comment ça marche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0A2540"/>
                </a:solidFill>
                <a:latin typeface="Hanken Grotesk"/>
              </a:rPr>
              <a:t>Publiez votre trajet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514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Ville de départ, destination, date, kg disponibles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4408" y="2395728"/>
            <a:ext cx="146304" cy="2540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0A2540"/>
                </a:solidFill>
                <a:latin typeface="Hanken Grotesk"/>
              </a:rPr>
              <a:t>Recevez des demandes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57600"/>
            <a:ext cx="2514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Les expéditeurs proposent un prix par kg ou négocient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2395728"/>
            <a:ext cx="146304" cy="2540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260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0A2540"/>
                </a:solidFill>
                <a:latin typeface="Hanken Grotesk"/>
              </a:rPr>
              <a:t>Récupérez le colis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2514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QR code + photo à la remise, contrôle en 2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42248" y="2395728"/>
            <a:ext cx="146304" cy="2540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9260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0A2540"/>
                </a:solidFill>
                <a:latin typeface="Hanken Grotesk"/>
              </a:rPr>
              <a:t>Livrez et soyez payé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657600"/>
            <a:ext cx="2514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Paiement libéré à la confirmation de livraison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devenir voyageur professionnel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41D54"/>
            </a:gs>
            <a:gs pos="100000">
              <a:srgbClr val="083CAB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EA9468"/>
                </a:solidFill>
                <a:latin typeface="Plus Jakarta Sans"/>
              </a:rPr>
              <a:t>OÙ VOLER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Hanken Grotesk"/>
              </a:rPr>
              <a:t>Les corridors dony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EA9468"/>
                </a:solidFill>
                <a:latin typeface="Plus Jakarta Sans"/>
              </a:rPr>
              <a:t>DÉPARTS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291840" cy="640080"/>
          </a:xfrm>
          <a:prstGeom prst="roundRect">
            <a:avLst>
              <a:gd name="adj" fmla="val 20000"/>
            </a:avLst>
          </a:prstGeom>
          <a:solidFill>
            <a:srgbClr val="083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Paris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3291840" cy="640080"/>
          </a:xfrm>
          <a:prstGeom prst="roundRect">
            <a:avLst>
              <a:gd name="adj" fmla="val 20000"/>
            </a:avLst>
          </a:prstGeom>
          <a:solidFill>
            <a:srgbClr val="083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Lyon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3291840" cy="640080"/>
          </a:xfrm>
          <a:prstGeom prst="roundRect">
            <a:avLst>
              <a:gd name="adj" fmla="val 20000"/>
            </a:avLst>
          </a:prstGeom>
          <a:solidFill>
            <a:srgbClr val="083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Marseille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13716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A9468"/>
                </a:solidFill>
                <a:latin typeface="Hanken Grotesk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EA9468"/>
                </a:solidFill>
                <a:latin typeface="Plus Jakarta Sans"/>
              </a:rPr>
              <a:t>DESTINATIONS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68880"/>
            <a:ext cx="2468880" cy="640080"/>
          </a:xfrm>
          <a:prstGeom prst="roundRect">
            <a:avLst>
              <a:gd name="adj" fmla="val 2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Dakar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468880"/>
            <a:ext cx="2468880" cy="640080"/>
          </a:xfrm>
          <a:prstGeom prst="roundRect">
            <a:avLst>
              <a:gd name="adj" fmla="val 2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46888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Abidjan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2468880" cy="640080"/>
          </a:xfrm>
          <a:prstGeom prst="roundRect">
            <a:avLst>
              <a:gd name="adj" fmla="val 2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Bamako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3291840"/>
            <a:ext cx="2468880" cy="640080"/>
          </a:xfrm>
          <a:prstGeom prst="roundRect">
            <a:avLst>
              <a:gd name="adj" fmla="val 2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329184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Douala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dony · devenir voyageur professionnel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RÉMUNÉRATION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Vos revenus, en toute transparence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D96A3A"/>
                </a:solidFill>
                <a:latin typeface="Plus Jakarta Sans"/>
              </a:rPr>
              <a:t>EXEMPLE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Trajet Paris → Dakar, 20 kg à 8€/kg convenus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Prix total accepté : 160 €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Commission dony (12%) : 19,20 €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09160"/>
            <a:ext cx="4480560" cy="1905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0E8A5F"/>
                </a:solidFill>
                <a:latin typeface="Plus Jakarta Sans"/>
              </a:rPr>
              <a:t>VOUS RECEVEZ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8A5F"/>
                </a:solidFill>
                <a:latin typeface="Hanken Grotesk"/>
              </a:rPr>
              <a:t>140,80 €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965960"/>
            <a:ext cx="5486400" cy="3749039"/>
          </a:xfrm>
          <a:prstGeom prst="roundRect">
            <a:avLst>
              <a:gd name="adj" fmla="val 5000"/>
            </a:avLst>
          </a:prstGeom>
          <a:solidFill>
            <a:srgbClr val="EDF2FF"/>
          </a:solidFill>
          <a:ln w="15875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083CAB"/>
                </a:solidFill>
                <a:latin typeface="Plus Jakarta Sans"/>
              </a:rPr>
              <a:t>POURQUOI 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4320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0B5FFF"/>
              </a:buClr>
              <a:buFont typeface="Plus Jakarta Sans"/>
              <a:buChar char="—"/>
            </a:pPr>
            <a:r>
              <a:rPr sz="1400" b="0">
                <a:solidFill>
                  <a:srgbClr val="041D54"/>
                </a:solidFill>
                <a:latin typeface="Plus Jakarta Sans"/>
              </a:rPr>
              <a:t>KYC &amp; vérification d'identité des deux parties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0B5FFF"/>
              </a:buClr>
              <a:buFont typeface="Plus Jakarta Sans"/>
              <a:buChar char="—"/>
            </a:pPr>
            <a:r>
              <a:rPr sz="1400" b="0">
                <a:solidFill>
                  <a:srgbClr val="041D54"/>
                </a:solidFill>
                <a:latin typeface="Plus Jakarta Sans"/>
              </a:rPr>
              <a:t>Paiement séquestré, libéré à la livraison confirmée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0B5FFF"/>
              </a:buClr>
              <a:buFont typeface="Plus Jakarta Sans"/>
              <a:buChar char="—"/>
            </a:pPr>
            <a:r>
              <a:rPr sz="1400" b="0">
                <a:solidFill>
                  <a:srgbClr val="041D54"/>
                </a:solidFill>
                <a:latin typeface="Plus Jakarta Sans"/>
              </a:rPr>
              <a:t>Support litige et assurance du parcours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0B5FFF"/>
              </a:buClr>
              <a:buFont typeface="Plus Jakarta Sans"/>
              <a:buChar char="—"/>
            </a:pPr>
            <a:r>
              <a:rPr sz="1400" b="0">
                <a:solidFill>
                  <a:srgbClr val="041D54"/>
                </a:solidFill>
                <a:latin typeface="Plus Jakarta Sans"/>
              </a:rPr>
              <a:t>Assistance dédiée aux comptes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devenir voyageur professionnel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POUR ALLER PLUS LOIN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Le statut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4504A"/>
                </a:solidFill>
                <a:latin typeface="Plus Jakarta Sans"/>
              </a:rPr>
              <a:t>Déclarez votre activité de transporteur (société ou auto-entreprise) et débloquez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606040" cy="2834640"/>
          </a:xfrm>
          <a:prstGeom prst="roundRect">
            <a:avLst>
              <a:gd name="adj" fmla="val 8000"/>
            </a:avLst>
          </a:prstGeom>
          <a:solidFill>
            <a:srgbClr val="F7F3ED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6517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Hanken Grotesk"/>
              </a:rPr>
              <a:t>Badge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Visibilité renforcée sur votre profil public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77440"/>
            <a:ext cx="2606040" cy="2834640"/>
          </a:xfrm>
          <a:prstGeom prst="roundRect">
            <a:avLst>
              <a:gd name="adj" fmla="val 8000"/>
            </a:avLst>
          </a:prstGeom>
          <a:solidFill>
            <a:srgbClr val="F7F3ED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6517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2461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Hanken Grotesk"/>
              </a:rPr>
              <a:t>Volume illimité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49039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Aucune limite sur le nombre de trajets publiés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2606040" cy="2834640"/>
          </a:xfrm>
          <a:prstGeom prst="roundRect">
            <a:avLst>
              <a:gd name="adj" fmla="val 8000"/>
            </a:avLst>
          </a:prstGeom>
          <a:solidFill>
            <a:srgbClr val="F7F3ED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26517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Hanken Grotesk"/>
              </a:rPr>
              <a:t>Priorité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49039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Vos trajets remontent en priorité aux expéditeurs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377440"/>
            <a:ext cx="2606040" cy="2834640"/>
          </a:xfrm>
          <a:prstGeom prst="roundRect">
            <a:avLst>
              <a:gd name="adj" fmla="val 8000"/>
            </a:avLst>
          </a:prstGeom>
          <a:solidFill>
            <a:srgbClr val="F7F3ED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26517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2461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Hanken Grotesk"/>
              </a:rPr>
              <a:t>Support dédié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749039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Un accompagnement réservé aux comptes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A294"/>
                </a:solidFill>
                <a:latin typeface="Plus Jakarta Sans"/>
              </a:rPr>
              <a:t>Prérequis : nom d'entreprise ou d'auto-entreprise + numéro SIRET (14 chiffres).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devenir voyageur professionnel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CONFIANCE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Sécurité, à chaque étape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606040" cy="63500"/>
          </a:xfrm>
          <a:prstGeom prst="rect">
            <a:avLst/>
          </a:prstGeom>
          <a:solidFill>
            <a:srgbClr val="1B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7BC2"/>
                </a:solidFill>
                <a:latin typeface="Hanken Grotesk"/>
              </a:rPr>
              <a:t>KYC vérifié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Identité contrôlée via Stripe Identity avant toute transaction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0312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2103120"/>
            <a:ext cx="2606040" cy="6350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423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A5F"/>
                </a:solidFill>
                <a:latin typeface="Hanken Grotesk"/>
              </a:rPr>
              <a:t>Paiement séquestré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5468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Les fonds ne sont libérés qu'après confirmation de livraison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2606040" cy="635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5FFF"/>
                </a:solidFill>
                <a:latin typeface="Hanken Grotesk"/>
              </a:rPr>
              <a:t>Biométrie/PIN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8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Chaque paiement est confirmé par biométrie ou code PIN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10312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2103120"/>
            <a:ext cx="2606040" cy="63500"/>
          </a:xfrm>
          <a:prstGeom prst="rect">
            <a:avLst/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23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D96A3A"/>
                </a:solidFill>
                <a:latin typeface="Hanken Grotesk"/>
              </a:rPr>
              <a:t>Traçabilité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5468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QR code + photo à la remise, suivi en temps réel jusqu'à la livraison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devenir voyageur professionnel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96A3A"/>
            </a:gs>
            <a:gs pos="100000">
              <a:srgbClr val="B95524"/>
            </a:gs>
          </a:gsLst>
          <a:lin scaled="0" ang="14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>
                <a:solidFill>
                  <a:srgbClr val="FFFFFF"/>
                </a:solidFill>
                <a:latin typeface="Hanken Grotesk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0"/>
            <a:ext cx="9875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Hanken Grotesk"/>
              </a:rPr>
              <a:t>Je fais déjà ce trajet chaque mois pour le travail — dony transforme ma franchise bagage inutilisée en revenu complémentaire.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617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CF0E9"/>
                </a:solidFill>
                <a:latin typeface="Plus Jakarta Sans"/>
              </a:rPr>
              <a:t>— Voyageur PRO, corridor Paris ↔ Abidjan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dony · devenir voyageur professionnel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QUESTIONS FRÉQUENTES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Ce que les voyageurs demandent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02535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Plus Jakarta Sans"/>
              </a:rPr>
              <a:t>Quand suis-je payé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39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4504A"/>
                </a:solidFill>
                <a:latin typeface="Plus Jakarta Sans"/>
              </a:rPr>
              <a:t>Dès que le destinataire confirme la réception du colis — le paiement est débloqué automatiquement.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19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45535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Plus Jakarta Sans"/>
              </a:rPr>
              <a:t>Que se passe-t-il en cas de litige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39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4504A"/>
                </a:solidFill>
                <a:latin typeface="Plus Jakarta Sans"/>
              </a:rPr>
              <a:t>Une équipe support dony traite chaque signalement avec preuves photo/QR à l'appui.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19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88535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Plus Jakarta Sans"/>
              </a:rPr>
              <a:t>Puis-je refuser un colis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39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4504A"/>
                </a:solidFill>
                <a:latin typeface="Plus Jakarta Sans"/>
              </a:rPr>
              <a:t>Oui, à tout moment avant la remise — vous restez décisionnaire de ce que vous transportez.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19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31535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Plus Jakarta Sans"/>
              </a:rPr>
              <a:t>Le paiement en espèces est-il possible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39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4504A"/>
                </a:solidFill>
                <a:latin typeface="Plus Jakarta Sans"/>
              </a:rPr>
              <a:t>Oui si l'expéditeur l'accepte et que votre commission dony est couverte au moment de l'accord.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devenir voyageur professionnel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41D54"/>
            </a:gs>
            <a:gs pos="100000">
              <a:srgbClr val="0B5FFF"/>
            </a:gs>
          </a:gsLst>
          <a:lin scaled="0" ang="14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EA9468"/>
                </a:solidFill>
                <a:latin typeface="Plus Jakarta Sans"/>
              </a:rPr>
              <a:t>3 MINUTES SUFFISENT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2860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anken Grotesk"/>
              </a:rPr>
              <a:t>Publiez votre premier trajet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7772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EA9468"/>
              </a:buClr>
              <a:buFont typeface="Plus Jakarta Sans"/>
              <a:buChar char="—"/>
            </a:pPr>
            <a:r>
              <a:rPr sz="1500" b="0">
                <a:solidFill>
                  <a:srgbClr val="FFFFFF"/>
                </a:solidFill>
                <a:latin typeface="Plus Jakarta Sans"/>
              </a:rPr>
              <a:t>Créez votre profil et vérifiez votre identité (KYC)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EA9468"/>
              </a:buClr>
              <a:buFont typeface="Plus Jakarta Sans"/>
              <a:buChar char="—"/>
            </a:pPr>
            <a:r>
              <a:rPr sz="1500" b="0">
                <a:solidFill>
                  <a:srgbClr val="FFFFFF"/>
                </a:solidFill>
                <a:latin typeface="Plus Jakarta Sans"/>
              </a:rPr>
              <a:t>Ajoutez votre trajet — ville, date, kg disponibles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EA9468"/>
              </a:buClr>
              <a:buFont typeface="Plus Jakarta Sans"/>
              <a:buChar char="—"/>
            </a:pPr>
            <a:r>
              <a:rPr sz="1500" b="0">
                <a:solidFill>
                  <a:srgbClr val="FFFFFF"/>
                </a:solidFill>
                <a:latin typeface="Plus Jakarta Sans"/>
              </a:rPr>
              <a:t>Recevez vos premières demandes d'expédition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212080"/>
            <a:ext cx="27432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2743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5FFF"/>
                </a:solidFill>
                <a:latin typeface="Plus Jakarta Sans"/>
              </a:rPr>
              <a:t>Devenir voyageur dony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dony · devenir voyageur professionnel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7744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3246120"/>
            <a:ext cx="67025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anken Grotesk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069080"/>
            <a:ext cx="5788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8BEFF"/>
                </a:solidFill>
                <a:latin typeface="Plus Jakarta Sans"/>
              </a:rPr>
              <a:t>devenirvoyageur@dony.app · dony.app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